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4B30C2-AB92-4090-A7EB-205D738FF3F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swept parameter is the arm half-angle t: low t stretches the frame fore-and-aft (high roll authority), high t stretches it laterally (high pitch authority); 45° is the classic X quad. The drone yaws to follow the path, so it weaves by banking and roll authority is the discriminating quantity. Courses differ only in the turn angle θ at each gate; leg length is fixed at 2.4 m so all courses are the same length. Score = maximum nominal speed that still passes every gate.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F1E293-6F9D-4F7B-AF83-ADDEA4CE4B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Reduced model: the optimum moves from a plateau at 36.81–61.37° (60°) to 36.81° (90°) to 20.44–28.63° (120°), and the spread grows 2.7 → 6.1 → 7.1 %. Corrected model (gyroscopic term integrated, quadratic yaw drag, idle-speed floor): 36.81° still wins at 60°, but 45/69.56° win at 90° and 53.19–69.56° at 120°. The 60° plateau is at bisection resolution. Nominal speed v sets T_total = T_startup + ℓ/v, so numbers are an ordinal scale, not physical gate speeds.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258BFE-5C5A-402B-8F98-A793809B92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frame has the same Izz and Izz ≈ Ixx + Iyy, so roll and pitch gyroscopic accelerations are nearly identical across the family. Only the yaw coupling (Ixx − Iyy)/Izz · ΩxΩy depends on geometry: −0.76 on the narrowest frame, 0 on the X quad, +0.75 on the widest. Keeping the term on one axis at a time (plant and controller alike) attributes the narrow frame's loss mostly to yaw. The pathway from yaw torque to missed gates is not established: yaw saturation and heading lag were not confirmed on the corrected model. Caveats: one controller tuning (optimised on the X quad), one course per turn angle, mixer clips motors independently.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2F95C1-5502-46FD-97B9-42C2EF12B9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94120" cy="63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Text 0"/>
          <p:cNvSpPr/>
          <p:nvPr/>
        </p:nvSpPr>
        <p:spPr>
          <a:xfrm>
            <a:off x="548640" y="6473880"/>
            <a:ext cx="9143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Arm azimuth and corner sharpness in quadrotor gate racing  ·  source: Reports/morphology_gate_racing.pdf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1118592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15C3F6-F847-46EB-AEEB-232F0FB47914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9412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 arm angles, three slalom courses, one score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Text 1"/>
          <p:cNvSpPr/>
          <p:nvPr/>
        </p:nvSpPr>
        <p:spPr>
          <a:xfrm>
            <a:off x="548640" y="960120"/>
            <a:ext cx="1109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Quadrotor: 0.829 kg · 5-inch props · 0.20 m arms · thrust/weight 5.24 · arms at ±t and 180° ± t from the forward axis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X quad highlight"/>
          <p:cNvSpPr/>
          <p:nvPr/>
        </p:nvSpPr>
        <p:spPr>
          <a:xfrm>
            <a:off x="5376600" y="1298520"/>
            <a:ext cx="1438200" cy="1810080"/>
          </a:xfrm>
          <a:prstGeom prst="roundRect">
            <a:avLst>
              <a:gd name="adj" fmla="val 5085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48640" y="1344240"/>
            <a:ext cx="158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= 20.44°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1567800" y="211464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5"/>
          <p:cNvSpPr/>
          <p:nvPr/>
        </p:nvSpPr>
        <p:spPr>
          <a:xfrm>
            <a:off x="1567800" y="185940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6"/>
          <p:cNvSpPr/>
          <p:nvPr/>
        </p:nvSpPr>
        <p:spPr>
          <a:xfrm>
            <a:off x="882360" y="185940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882360" y="211464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/>
          <p:cNvSpPr/>
          <p:nvPr/>
        </p:nvSpPr>
        <p:spPr>
          <a:xfrm>
            <a:off x="1341000" y="2103120"/>
            <a:ext cx="342720" cy="1274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 flipV="1">
            <a:off x="1341000" y="1975320"/>
            <a:ext cx="342720" cy="12780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0"/>
          <p:cNvSpPr/>
          <p:nvPr/>
        </p:nvSpPr>
        <p:spPr>
          <a:xfrm>
            <a:off x="998280" y="1975320"/>
            <a:ext cx="342720" cy="12780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 flipV="1">
            <a:off x="998280" y="2103120"/>
            <a:ext cx="342720" cy="1274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2"/>
          <p:cNvSpPr/>
          <p:nvPr/>
        </p:nvSpPr>
        <p:spPr>
          <a:xfrm>
            <a:off x="1249560" y="2011680"/>
            <a:ext cx="182520" cy="1825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1341000" y="2103120"/>
            <a:ext cx="20124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548640" y="2633400"/>
            <a:ext cx="1584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roll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φ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313.3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pitch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θ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120.8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5"/>
          <p:cNvSpPr/>
          <p:nvPr/>
        </p:nvSpPr>
        <p:spPr>
          <a:xfrm>
            <a:off x="2133720" y="1344240"/>
            <a:ext cx="158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= 28.63°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6"/>
          <p:cNvSpPr/>
          <p:nvPr/>
        </p:nvSpPr>
        <p:spPr>
          <a:xfrm>
            <a:off x="3130920" y="21621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3130920" y="18118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2488680" y="18118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9"/>
          <p:cNvSpPr/>
          <p:nvPr/>
        </p:nvSpPr>
        <p:spPr>
          <a:xfrm>
            <a:off x="2488680" y="21621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0"/>
          <p:cNvSpPr/>
          <p:nvPr/>
        </p:nvSpPr>
        <p:spPr>
          <a:xfrm>
            <a:off x="2925720" y="2103120"/>
            <a:ext cx="321120" cy="17496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1"/>
          <p:cNvSpPr/>
          <p:nvPr/>
        </p:nvSpPr>
        <p:spPr>
          <a:xfrm flipV="1">
            <a:off x="2925720" y="1927800"/>
            <a:ext cx="321120" cy="17532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2604960" y="1927800"/>
            <a:ext cx="320760" cy="17532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3"/>
          <p:cNvSpPr/>
          <p:nvPr/>
        </p:nvSpPr>
        <p:spPr>
          <a:xfrm flipV="1">
            <a:off x="2604960" y="2103120"/>
            <a:ext cx="320760" cy="17496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2834640" y="2011680"/>
            <a:ext cx="182520" cy="1825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25"/>
          <p:cNvSpPr/>
          <p:nvPr/>
        </p:nvSpPr>
        <p:spPr>
          <a:xfrm>
            <a:off x="2925720" y="2103120"/>
            <a:ext cx="20124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6"/>
          <p:cNvSpPr/>
          <p:nvPr/>
        </p:nvSpPr>
        <p:spPr>
          <a:xfrm>
            <a:off x="2133720" y="2633400"/>
            <a:ext cx="1584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roll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φ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233.1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pitch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θ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128.8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7"/>
          <p:cNvSpPr/>
          <p:nvPr/>
        </p:nvSpPr>
        <p:spPr>
          <a:xfrm>
            <a:off x="3718440" y="1344240"/>
            <a:ext cx="158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= 36.81°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28"/>
          <p:cNvSpPr/>
          <p:nvPr/>
        </p:nvSpPr>
        <p:spPr>
          <a:xfrm>
            <a:off x="4687560" y="22060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4687560" y="17679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0"/>
          <p:cNvSpPr/>
          <p:nvPr/>
        </p:nvSpPr>
        <p:spPr>
          <a:xfrm>
            <a:off x="4101840" y="17679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1"/>
          <p:cNvSpPr/>
          <p:nvPr/>
        </p:nvSpPr>
        <p:spPr>
          <a:xfrm>
            <a:off x="4101840" y="22060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4510800" y="2103120"/>
            <a:ext cx="292680" cy="2188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33"/>
          <p:cNvSpPr/>
          <p:nvPr/>
        </p:nvSpPr>
        <p:spPr>
          <a:xfrm flipV="1">
            <a:off x="4510800" y="1883880"/>
            <a:ext cx="292680" cy="2192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4"/>
          <p:cNvSpPr/>
          <p:nvPr/>
        </p:nvSpPr>
        <p:spPr>
          <a:xfrm>
            <a:off x="4217760" y="1883880"/>
            <a:ext cx="293040" cy="2192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35"/>
          <p:cNvSpPr/>
          <p:nvPr/>
        </p:nvSpPr>
        <p:spPr>
          <a:xfrm flipV="1">
            <a:off x="4217760" y="2103120"/>
            <a:ext cx="293040" cy="2188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6"/>
          <p:cNvSpPr/>
          <p:nvPr/>
        </p:nvSpPr>
        <p:spPr>
          <a:xfrm>
            <a:off x="4419360" y="2011680"/>
            <a:ext cx="182520" cy="1825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7"/>
          <p:cNvSpPr/>
          <p:nvPr/>
        </p:nvSpPr>
        <p:spPr>
          <a:xfrm>
            <a:off x="4510800" y="2103120"/>
            <a:ext cx="20124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8"/>
          <p:cNvSpPr/>
          <p:nvPr/>
        </p:nvSpPr>
        <p:spPr>
          <a:xfrm>
            <a:off x="3718440" y="2633400"/>
            <a:ext cx="1584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roll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φ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187.9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pitch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θ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140.9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9"/>
          <p:cNvSpPr/>
          <p:nvPr/>
        </p:nvSpPr>
        <p:spPr>
          <a:xfrm>
            <a:off x="5303520" y="1344240"/>
            <a:ext cx="158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= 45.00°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40"/>
          <p:cNvSpPr/>
          <p:nvPr/>
        </p:nvSpPr>
        <p:spPr>
          <a:xfrm>
            <a:off x="6238440" y="22456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41"/>
          <p:cNvSpPr/>
          <p:nvPr/>
        </p:nvSpPr>
        <p:spPr>
          <a:xfrm>
            <a:off x="6238440" y="17283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42"/>
          <p:cNvSpPr/>
          <p:nvPr/>
        </p:nvSpPr>
        <p:spPr>
          <a:xfrm>
            <a:off x="5721120" y="17283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3"/>
          <p:cNvSpPr/>
          <p:nvPr/>
        </p:nvSpPr>
        <p:spPr>
          <a:xfrm>
            <a:off x="5721120" y="22456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44"/>
          <p:cNvSpPr/>
          <p:nvPr/>
        </p:nvSpPr>
        <p:spPr>
          <a:xfrm>
            <a:off x="6095520" y="2103120"/>
            <a:ext cx="258840" cy="2584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5"/>
          <p:cNvSpPr/>
          <p:nvPr/>
        </p:nvSpPr>
        <p:spPr>
          <a:xfrm flipV="1">
            <a:off x="6095520" y="1844280"/>
            <a:ext cx="258840" cy="2588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46"/>
          <p:cNvSpPr/>
          <p:nvPr/>
        </p:nvSpPr>
        <p:spPr>
          <a:xfrm>
            <a:off x="5837040" y="1844280"/>
            <a:ext cx="258480" cy="2588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47"/>
          <p:cNvSpPr/>
          <p:nvPr/>
        </p:nvSpPr>
        <p:spPr>
          <a:xfrm flipV="1">
            <a:off x="5837040" y="2103120"/>
            <a:ext cx="258480" cy="2584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6004440" y="2011680"/>
            <a:ext cx="182520" cy="1825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9"/>
          <p:cNvSpPr/>
          <p:nvPr/>
        </p:nvSpPr>
        <p:spPr>
          <a:xfrm>
            <a:off x="6095520" y="2103120"/>
            <a:ext cx="20124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0"/>
          <p:cNvSpPr/>
          <p:nvPr/>
        </p:nvSpPr>
        <p:spPr>
          <a:xfrm>
            <a:off x="5303520" y="2633400"/>
            <a:ext cx="1584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roll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φ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159.9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pitch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θ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158.9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1"/>
          <p:cNvSpPr/>
          <p:nvPr/>
        </p:nvSpPr>
        <p:spPr>
          <a:xfrm>
            <a:off x="6888240" y="1344240"/>
            <a:ext cx="158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= 53.19°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2"/>
          <p:cNvSpPr/>
          <p:nvPr/>
        </p:nvSpPr>
        <p:spPr>
          <a:xfrm>
            <a:off x="7783920" y="22798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53"/>
          <p:cNvSpPr/>
          <p:nvPr/>
        </p:nvSpPr>
        <p:spPr>
          <a:xfrm>
            <a:off x="7783920" y="16941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4"/>
          <p:cNvSpPr/>
          <p:nvPr/>
        </p:nvSpPr>
        <p:spPr>
          <a:xfrm>
            <a:off x="7345440" y="16941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5"/>
          <p:cNvSpPr/>
          <p:nvPr/>
        </p:nvSpPr>
        <p:spPr>
          <a:xfrm>
            <a:off x="7345440" y="22798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6"/>
          <p:cNvSpPr/>
          <p:nvPr/>
        </p:nvSpPr>
        <p:spPr>
          <a:xfrm>
            <a:off x="7680600" y="2103120"/>
            <a:ext cx="219240" cy="2926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7"/>
          <p:cNvSpPr/>
          <p:nvPr/>
        </p:nvSpPr>
        <p:spPr>
          <a:xfrm flipV="1">
            <a:off x="7680600" y="1810080"/>
            <a:ext cx="219240" cy="2930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58"/>
          <p:cNvSpPr/>
          <p:nvPr/>
        </p:nvSpPr>
        <p:spPr>
          <a:xfrm>
            <a:off x="7461360" y="1810080"/>
            <a:ext cx="219240" cy="2930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9"/>
          <p:cNvSpPr/>
          <p:nvPr/>
        </p:nvSpPr>
        <p:spPr>
          <a:xfrm flipV="1">
            <a:off x="7461360" y="2103120"/>
            <a:ext cx="219240" cy="2926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0"/>
          <p:cNvSpPr/>
          <p:nvPr/>
        </p:nvSpPr>
        <p:spPr>
          <a:xfrm>
            <a:off x="7589160" y="2011680"/>
            <a:ext cx="182520" cy="1825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7680600" y="2103120"/>
            <a:ext cx="20124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62"/>
          <p:cNvSpPr/>
          <p:nvPr/>
        </p:nvSpPr>
        <p:spPr>
          <a:xfrm>
            <a:off x="6888240" y="2633400"/>
            <a:ext cx="1584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roll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φ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141.6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pitch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θ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186.3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3"/>
          <p:cNvSpPr/>
          <p:nvPr/>
        </p:nvSpPr>
        <p:spPr>
          <a:xfrm>
            <a:off x="8473320" y="1344240"/>
            <a:ext cx="158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= 61.37°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4"/>
          <p:cNvSpPr/>
          <p:nvPr/>
        </p:nvSpPr>
        <p:spPr>
          <a:xfrm>
            <a:off x="9324720" y="23079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5"/>
          <p:cNvSpPr/>
          <p:nvPr/>
        </p:nvSpPr>
        <p:spPr>
          <a:xfrm>
            <a:off x="9324720" y="16660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6"/>
          <p:cNvSpPr/>
          <p:nvPr/>
        </p:nvSpPr>
        <p:spPr>
          <a:xfrm>
            <a:off x="8974440" y="166608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7"/>
          <p:cNvSpPr/>
          <p:nvPr/>
        </p:nvSpPr>
        <p:spPr>
          <a:xfrm>
            <a:off x="8974440" y="23079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68"/>
          <p:cNvSpPr/>
          <p:nvPr/>
        </p:nvSpPr>
        <p:spPr>
          <a:xfrm>
            <a:off x="9265680" y="2103120"/>
            <a:ext cx="174960" cy="32076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9"/>
          <p:cNvSpPr/>
          <p:nvPr/>
        </p:nvSpPr>
        <p:spPr>
          <a:xfrm flipV="1">
            <a:off x="9265680" y="1782000"/>
            <a:ext cx="174960" cy="32112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70"/>
          <p:cNvSpPr/>
          <p:nvPr/>
        </p:nvSpPr>
        <p:spPr>
          <a:xfrm>
            <a:off x="9090360" y="1782000"/>
            <a:ext cx="175320" cy="32112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71"/>
          <p:cNvSpPr/>
          <p:nvPr/>
        </p:nvSpPr>
        <p:spPr>
          <a:xfrm flipV="1">
            <a:off x="9090360" y="2103120"/>
            <a:ext cx="175320" cy="32076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72"/>
          <p:cNvSpPr/>
          <p:nvPr/>
        </p:nvSpPr>
        <p:spPr>
          <a:xfrm>
            <a:off x="9174240" y="2011680"/>
            <a:ext cx="182520" cy="1825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3"/>
          <p:cNvSpPr/>
          <p:nvPr/>
        </p:nvSpPr>
        <p:spPr>
          <a:xfrm>
            <a:off x="9265680" y="2103120"/>
            <a:ext cx="20088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4"/>
          <p:cNvSpPr/>
          <p:nvPr/>
        </p:nvSpPr>
        <p:spPr>
          <a:xfrm>
            <a:off x="8473320" y="2633400"/>
            <a:ext cx="1584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roll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φ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129.3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pitch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θ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230.0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75"/>
          <p:cNvSpPr/>
          <p:nvPr/>
        </p:nvSpPr>
        <p:spPr>
          <a:xfrm>
            <a:off x="10058040" y="1344240"/>
            <a:ext cx="1584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= 69.56°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76"/>
          <p:cNvSpPr/>
          <p:nvPr/>
        </p:nvSpPr>
        <p:spPr>
          <a:xfrm>
            <a:off x="10862280" y="23295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77"/>
          <p:cNvSpPr/>
          <p:nvPr/>
        </p:nvSpPr>
        <p:spPr>
          <a:xfrm>
            <a:off x="10862280" y="164412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78"/>
          <p:cNvSpPr/>
          <p:nvPr/>
        </p:nvSpPr>
        <p:spPr>
          <a:xfrm>
            <a:off x="10606680" y="164412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79"/>
          <p:cNvSpPr/>
          <p:nvPr/>
        </p:nvSpPr>
        <p:spPr>
          <a:xfrm>
            <a:off x="10606680" y="2329560"/>
            <a:ext cx="231840" cy="2318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80"/>
          <p:cNvSpPr/>
          <p:nvPr/>
        </p:nvSpPr>
        <p:spPr>
          <a:xfrm>
            <a:off x="10850400" y="2103120"/>
            <a:ext cx="127800" cy="34272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81"/>
          <p:cNvSpPr/>
          <p:nvPr/>
        </p:nvSpPr>
        <p:spPr>
          <a:xfrm flipV="1">
            <a:off x="10850400" y="1760040"/>
            <a:ext cx="127800" cy="3430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2"/>
          <p:cNvSpPr/>
          <p:nvPr/>
        </p:nvSpPr>
        <p:spPr>
          <a:xfrm>
            <a:off x="10722600" y="1760040"/>
            <a:ext cx="127800" cy="3430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83"/>
          <p:cNvSpPr/>
          <p:nvPr/>
        </p:nvSpPr>
        <p:spPr>
          <a:xfrm flipV="1">
            <a:off x="10722600" y="2103120"/>
            <a:ext cx="127800" cy="34272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4"/>
          <p:cNvSpPr/>
          <p:nvPr/>
        </p:nvSpPr>
        <p:spPr>
          <a:xfrm>
            <a:off x="10759320" y="2011680"/>
            <a:ext cx="182520" cy="18252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85"/>
          <p:cNvSpPr/>
          <p:nvPr/>
        </p:nvSpPr>
        <p:spPr>
          <a:xfrm>
            <a:off x="10850400" y="2103120"/>
            <a:ext cx="20124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86"/>
          <p:cNvSpPr/>
          <p:nvPr/>
        </p:nvSpPr>
        <p:spPr>
          <a:xfrm>
            <a:off x="10058040" y="2633400"/>
            <a:ext cx="15847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roll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φ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121.3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pitch α</a:t>
            </a:r>
            <a:r>
              <a:rPr lang="en-US" sz="1200" b="0" u="none" strike="noStrike" baseline="-40000">
                <a:solidFill>
                  <a:schemeClr val="dk2"/>
                </a:solidFill>
                <a:effectLst/>
                <a:uFillTx/>
                <a:latin typeface="Calibri"/>
              </a:rPr>
              <a:t>θ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305.7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87"/>
          <p:cNvSpPr/>
          <p:nvPr/>
        </p:nvSpPr>
        <p:spPr>
          <a:xfrm>
            <a:off x="731520" y="3255120"/>
            <a:ext cx="10728360" cy="360"/>
          </a:xfrm>
          <a:prstGeom prst="line">
            <a:avLst/>
          </a:prstGeom>
          <a:ln w="15875">
            <a:solidFill>
              <a:srgbClr val="94A3B8"/>
            </a:solidFill>
            <a:round/>
            <a:headEnd len="med" type="triangle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8"/>
          <p:cNvSpPr/>
          <p:nvPr/>
        </p:nvSpPr>
        <p:spPr>
          <a:xfrm>
            <a:off x="731520" y="331020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narrow: stretched fore–aft, high roll authority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9"/>
          <p:cNvSpPr/>
          <p:nvPr/>
        </p:nvSpPr>
        <p:spPr>
          <a:xfrm>
            <a:off x="4724280" y="3310200"/>
            <a:ext cx="2742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45° = classic X quad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0"/>
          <p:cNvSpPr/>
          <p:nvPr/>
        </p:nvSpPr>
        <p:spPr>
          <a:xfrm>
            <a:off x="7619760" y="3310200"/>
            <a:ext cx="384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wide: stretched laterally, high pitch authority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91"/>
          <p:cNvSpPr/>
          <p:nvPr/>
        </p:nvSpPr>
        <p:spPr>
          <a:xfrm>
            <a:off x="731520" y="3566160"/>
            <a:ext cx="10728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Authority = angular acceleration per newton of thrust (rad s⁻² N⁻¹), inertia-normalised. Roll authority varies 2.58× across the family; the weave is flown by banking.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2"/>
          <p:cNvSpPr/>
          <p:nvPr/>
        </p:nvSpPr>
        <p:spPr>
          <a:xfrm>
            <a:off x="548640" y="3931920"/>
            <a:ext cx="6309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Courses: same 2.4 m legs, sharper turn at every gate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3"/>
          <p:cNvSpPr/>
          <p:nvPr/>
        </p:nvSpPr>
        <p:spPr>
          <a:xfrm>
            <a:off x="548640" y="4368240"/>
            <a:ext cx="1691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θ = 60°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spacing 2.08 m · ±0.60 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94"/>
          <p:cNvSpPr/>
          <p:nvPr/>
        </p:nvSpPr>
        <p:spPr>
          <a:xfrm>
            <a:off x="2331720" y="4439160"/>
            <a:ext cx="513000" cy="29628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5"/>
          <p:cNvSpPr/>
          <p:nvPr/>
        </p:nvSpPr>
        <p:spPr>
          <a:xfrm flipV="1">
            <a:off x="2844720" y="4439160"/>
            <a:ext cx="513000" cy="29628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6"/>
          <p:cNvSpPr/>
          <p:nvPr/>
        </p:nvSpPr>
        <p:spPr>
          <a:xfrm>
            <a:off x="3357720" y="4439160"/>
            <a:ext cx="513360" cy="29628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97"/>
          <p:cNvSpPr/>
          <p:nvPr/>
        </p:nvSpPr>
        <p:spPr>
          <a:xfrm flipV="1">
            <a:off x="3871080" y="4439160"/>
            <a:ext cx="513000" cy="29628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8"/>
          <p:cNvSpPr/>
          <p:nvPr/>
        </p:nvSpPr>
        <p:spPr>
          <a:xfrm>
            <a:off x="4384080" y="4439160"/>
            <a:ext cx="513360" cy="29628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99"/>
          <p:cNvSpPr/>
          <p:nvPr/>
        </p:nvSpPr>
        <p:spPr>
          <a:xfrm flipV="1">
            <a:off x="4897440" y="4439160"/>
            <a:ext cx="513000" cy="29628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00"/>
          <p:cNvSpPr/>
          <p:nvPr/>
        </p:nvSpPr>
        <p:spPr>
          <a:xfrm>
            <a:off x="2331720" y="431568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01"/>
          <p:cNvSpPr/>
          <p:nvPr/>
        </p:nvSpPr>
        <p:spPr>
          <a:xfrm>
            <a:off x="2844720" y="461196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02"/>
          <p:cNvSpPr/>
          <p:nvPr/>
        </p:nvSpPr>
        <p:spPr>
          <a:xfrm>
            <a:off x="3357720" y="431568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03"/>
          <p:cNvSpPr/>
          <p:nvPr/>
        </p:nvSpPr>
        <p:spPr>
          <a:xfrm>
            <a:off x="3871080" y="461196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04"/>
          <p:cNvSpPr/>
          <p:nvPr/>
        </p:nvSpPr>
        <p:spPr>
          <a:xfrm>
            <a:off x="4384080" y="431568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5"/>
          <p:cNvSpPr/>
          <p:nvPr/>
        </p:nvSpPr>
        <p:spPr>
          <a:xfrm>
            <a:off x="4897440" y="461196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06"/>
          <p:cNvSpPr/>
          <p:nvPr/>
        </p:nvSpPr>
        <p:spPr>
          <a:xfrm>
            <a:off x="5410440" y="431568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07"/>
          <p:cNvSpPr/>
          <p:nvPr/>
        </p:nvSpPr>
        <p:spPr>
          <a:xfrm>
            <a:off x="548640" y="5064120"/>
            <a:ext cx="1691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θ = 90°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spacing 1.70 m · ±0.85 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08"/>
          <p:cNvSpPr/>
          <p:nvPr/>
        </p:nvSpPr>
        <p:spPr>
          <a:xfrm>
            <a:off x="2331720" y="5073840"/>
            <a:ext cx="418680" cy="41904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09"/>
          <p:cNvSpPr/>
          <p:nvPr/>
        </p:nvSpPr>
        <p:spPr>
          <a:xfrm flipV="1">
            <a:off x="2750400" y="5073840"/>
            <a:ext cx="419040" cy="41904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10"/>
          <p:cNvSpPr/>
          <p:nvPr/>
        </p:nvSpPr>
        <p:spPr>
          <a:xfrm>
            <a:off x="3169440" y="5073840"/>
            <a:ext cx="419040" cy="41904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11"/>
          <p:cNvSpPr/>
          <p:nvPr/>
        </p:nvSpPr>
        <p:spPr>
          <a:xfrm flipV="1">
            <a:off x="3588480" y="5073840"/>
            <a:ext cx="419040" cy="41904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12"/>
          <p:cNvSpPr/>
          <p:nvPr/>
        </p:nvSpPr>
        <p:spPr>
          <a:xfrm>
            <a:off x="4007520" y="5073840"/>
            <a:ext cx="419040" cy="41904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13"/>
          <p:cNvSpPr/>
          <p:nvPr/>
        </p:nvSpPr>
        <p:spPr>
          <a:xfrm flipV="1">
            <a:off x="4426560" y="5073840"/>
            <a:ext cx="419040" cy="41904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4"/>
          <p:cNvSpPr/>
          <p:nvPr/>
        </p:nvSpPr>
        <p:spPr>
          <a:xfrm>
            <a:off x="2331720" y="495036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15"/>
          <p:cNvSpPr/>
          <p:nvPr/>
        </p:nvSpPr>
        <p:spPr>
          <a:xfrm>
            <a:off x="2750400" y="53694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6"/>
          <p:cNvSpPr/>
          <p:nvPr/>
        </p:nvSpPr>
        <p:spPr>
          <a:xfrm>
            <a:off x="3169440" y="495036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17"/>
          <p:cNvSpPr/>
          <p:nvPr/>
        </p:nvSpPr>
        <p:spPr>
          <a:xfrm>
            <a:off x="3588480" y="53694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18"/>
          <p:cNvSpPr/>
          <p:nvPr/>
        </p:nvSpPr>
        <p:spPr>
          <a:xfrm>
            <a:off x="4007520" y="495036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19"/>
          <p:cNvSpPr/>
          <p:nvPr/>
        </p:nvSpPr>
        <p:spPr>
          <a:xfrm>
            <a:off x="4426560" y="53694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20"/>
          <p:cNvSpPr/>
          <p:nvPr/>
        </p:nvSpPr>
        <p:spPr>
          <a:xfrm>
            <a:off x="4845600" y="495036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1"/>
          <p:cNvSpPr/>
          <p:nvPr/>
        </p:nvSpPr>
        <p:spPr>
          <a:xfrm>
            <a:off x="548640" y="5868360"/>
            <a:ext cx="1691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θ = 120°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spacing 1.20 m · ±1.04 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22"/>
          <p:cNvSpPr/>
          <p:nvPr/>
        </p:nvSpPr>
        <p:spPr>
          <a:xfrm>
            <a:off x="2331720" y="5831280"/>
            <a:ext cx="295920" cy="51300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3"/>
          <p:cNvSpPr/>
          <p:nvPr/>
        </p:nvSpPr>
        <p:spPr>
          <a:xfrm flipV="1">
            <a:off x="2627640" y="5831280"/>
            <a:ext cx="296280" cy="51300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4"/>
          <p:cNvSpPr/>
          <p:nvPr/>
        </p:nvSpPr>
        <p:spPr>
          <a:xfrm>
            <a:off x="2923920" y="5831280"/>
            <a:ext cx="296280" cy="51300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25"/>
          <p:cNvSpPr/>
          <p:nvPr/>
        </p:nvSpPr>
        <p:spPr>
          <a:xfrm flipV="1">
            <a:off x="3220200" y="5831280"/>
            <a:ext cx="296280" cy="51300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26"/>
          <p:cNvSpPr/>
          <p:nvPr/>
        </p:nvSpPr>
        <p:spPr>
          <a:xfrm>
            <a:off x="3516480" y="5831280"/>
            <a:ext cx="296280" cy="51300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27"/>
          <p:cNvSpPr/>
          <p:nvPr/>
        </p:nvSpPr>
        <p:spPr>
          <a:xfrm flipV="1">
            <a:off x="3812760" y="5831280"/>
            <a:ext cx="296280" cy="513000"/>
          </a:xfrm>
          <a:prstGeom prst="line">
            <a:avLst/>
          </a:prstGeom>
          <a:ln w="222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28"/>
          <p:cNvSpPr/>
          <p:nvPr/>
        </p:nvSpPr>
        <p:spPr>
          <a:xfrm>
            <a:off x="2331720" y="57078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29"/>
          <p:cNvSpPr/>
          <p:nvPr/>
        </p:nvSpPr>
        <p:spPr>
          <a:xfrm>
            <a:off x="2627640" y="62208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30"/>
          <p:cNvSpPr/>
          <p:nvPr/>
        </p:nvSpPr>
        <p:spPr>
          <a:xfrm>
            <a:off x="2923920" y="57078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31"/>
          <p:cNvSpPr/>
          <p:nvPr/>
        </p:nvSpPr>
        <p:spPr>
          <a:xfrm>
            <a:off x="3220200" y="62208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32"/>
          <p:cNvSpPr/>
          <p:nvPr/>
        </p:nvSpPr>
        <p:spPr>
          <a:xfrm>
            <a:off x="3516480" y="57078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33"/>
          <p:cNvSpPr/>
          <p:nvPr/>
        </p:nvSpPr>
        <p:spPr>
          <a:xfrm>
            <a:off x="3812760" y="62208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34"/>
          <p:cNvSpPr/>
          <p:nvPr/>
        </p:nvSpPr>
        <p:spPr>
          <a:xfrm>
            <a:off x="4109040" y="5707800"/>
            <a:ext cx="360" cy="246960"/>
          </a:xfrm>
          <a:prstGeom prst="line">
            <a:avLst/>
          </a:prstGeom>
          <a:ln w="31750">
            <a:solidFill>
              <a:srgbClr val="B91C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35"/>
          <p:cNvSpPr/>
          <p:nvPr/>
        </p:nvSpPr>
        <p:spPr>
          <a:xfrm>
            <a:off x="5577840" y="4389120"/>
            <a:ext cx="127980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Six legs of each course, to scale; red bars are gates (0.5 m radius). Fixed leg length keeps every course 38.4 m long, so difficulty is not confounded with distance.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coring panel"/>
          <p:cNvSpPr/>
          <p:nvPr/>
        </p:nvSpPr>
        <p:spPr>
          <a:xfrm>
            <a:off x="6949440" y="3931920"/>
            <a:ext cx="4693320" cy="2486880"/>
          </a:xfrm>
          <a:prstGeom prst="roundRect">
            <a:avLst>
              <a:gd name="adj" fmla="val 3676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37"/>
          <p:cNvSpPr/>
          <p:nvPr/>
        </p:nvSpPr>
        <p:spPr>
          <a:xfrm>
            <a:off x="7178040" y="4069080"/>
            <a:ext cx="4236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an airframe is scored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8"/>
          <p:cNvSpPr/>
          <p:nvPr/>
        </p:nvSpPr>
        <p:spPr>
          <a:xfrm>
            <a:off x="7178040" y="4434840"/>
            <a:ext cx="423612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Highest nominal speed at which all 15 gates are passed, found by bisection (±0.0625 m/s)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Pass: centre of mass within 0.5 m of the gate centre, in the gate plane, altitude included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Gains rederived per airframe (K</a:t>
            </a:r>
            <a:r>
              <a:rPr lang="en-US" sz="14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= ω</a:t>
            </a:r>
            <a:r>
              <a:rPr lang="en-US" sz="14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n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² I), so every body gets the same commanded bandwidth, 24 rad/s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sldNum" idx="5"/>
          </p:nvPr>
        </p:nvSpPr>
        <p:spPr>
          <a:xfrm>
            <a:off x="1118592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7FD653-60AF-41C9-9531-AD7005982DFB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9412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best arm angle depends on corner sharpness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 1"/>
          <p:cNvSpPr/>
          <p:nvPr/>
        </p:nvSpPr>
        <p:spPr>
          <a:xfrm>
            <a:off x="548640" y="107892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Reduced model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  report Table 1 · no gyroscopic term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6248160" y="1078920"/>
            <a:ext cx="5394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Corrected model</a:t>
            </a: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   report Table 3 · full rigid-body dynamics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5" name="Table 0"/>
          <p:cNvGraphicFramePr/>
          <p:nvPr/>
        </p:nvGraphicFramePr>
        <p:xfrm>
          <a:off x="548640" y="1444680"/>
          <a:ext cx="5394600" cy="222156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188720"/>
                <a:gridCol w="1188720"/>
                <a:gridCol w="1188720"/>
              </a:tblGrid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 (°)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roll αφ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θ = 60°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θ = 90°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θ = 120°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20.44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313.3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9.891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7.977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6.648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28.63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233.0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10.086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8.289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6.609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36.81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187.9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10.164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8.367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6.531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45.00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159.9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10.164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8.250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6.414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53.19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141.6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10.164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8.172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6.297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61.37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129.3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10.125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8.016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6.219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69.56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121.3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9.930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7.859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6.180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 gridSpan="2"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i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spread across family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2.7 %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6.1 %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7.1 %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6" name="Table 1"/>
          <p:cNvGraphicFramePr/>
          <p:nvPr/>
        </p:nvGraphicFramePr>
        <p:xfrm>
          <a:off x="6248160" y="1444680"/>
          <a:ext cx="5394600" cy="222156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1188720"/>
                <a:gridCol w="1188720"/>
                <a:gridCol w="1188720"/>
              </a:tblGrid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 (°)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roll αφ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θ = 60°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θ = 90°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θ = 120°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20.44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313.3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10.086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5.555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5.281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28.63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233.0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10.242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6.297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6.375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36.81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187.9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10.398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6.961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6.219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45.00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159.9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10.203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8.250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6.688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53.19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141.6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10.047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8.172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7.078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61.37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129.3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9.969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8.133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7.078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24660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69.56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121.3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10.008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8.211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7.117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</a:tr>
              <a:tr h="246600">
                <a:tc gridSpan="2"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i="1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spread across family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4.1 %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32.7 %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i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25.8 %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7" name="Text 3"/>
          <p:cNvSpPr/>
          <p:nvPr/>
        </p:nvSpPr>
        <p:spPr>
          <a:xfrm>
            <a:off x="548640" y="3730680"/>
            <a:ext cx="11094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Maximum completing speed (m/s). Orange = within the 0.0625 m/s bisection tolerance of the column best. Speeds are nominal (a difficulty scale): compare within a column only.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548640" y="4069080"/>
            <a:ext cx="5394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Optimum migrates to the narrow end as corners sharpen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548640" y="438012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θ = 60°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6"/>
          <p:cNvSpPr/>
          <p:nvPr/>
        </p:nvSpPr>
        <p:spPr>
          <a:xfrm>
            <a:off x="1417320" y="4489560"/>
            <a:ext cx="34012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132588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189288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9"/>
          <p:cNvSpPr/>
          <p:nvPr/>
        </p:nvSpPr>
        <p:spPr>
          <a:xfrm>
            <a:off x="2459880" y="439812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0"/>
          <p:cNvSpPr/>
          <p:nvPr/>
        </p:nvSpPr>
        <p:spPr>
          <a:xfrm>
            <a:off x="3026520" y="439812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3593520" y="439812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4160520" y="439812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3"/>
          <p:cNvSpPr/>
          <p:nvPr/>
        </p:nvSpPr>
        <p:spPr>
          <a:xfrm>
            <a:off x="472752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4"/>
          <p:cNvSpPr/>
          <p:nvPr/>
        </p:nvSpPr>
        <p:spPr>
          <a:xfrm>
            <a:off x="548640" y="465444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θ = 90°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5"/>
          <p:cNvSpPr/>
          <p:nvPr/>
        </p:nvSpPr>
        <p:spPr>
          <a:xfrm>
            <a:off x="1417320" y="4763880"/>
            <a:ext cx="34012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6"/>
          <p:cNvSpPr/>
          <p:nvPr/>
        </p:nvSpPr>
        <p:spPr>
          <a:xfrm>
            <a:off x="132588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7"/>
          <p:cNvSpPr/>
          <p:nvPr/>
        </p:nvSpPr>
        <p:spPr>
          <a:xfrm>
            <a:off x="189288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8"/>
          <p:cNvSpPr/>
          <p:nvPr/>
        </p:nvSpPr>
        <p:spPr>
          <a:xfrm>
            <a:off x="2459880" y="467244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9"/>
          <p:cNvSpPr/>
          <p:nvPr/>
        </p:nvSpPr>
        <p:spPr>
          <a:xfrm>
            <a:off x="302652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20"/>
          <p:cNvSpPr/>
          <p:nvPr/>
        </p:nvSpPr>
        <p:spPr>
          <a:xfrm>
            <a:off x="359352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1"/>
          <p:cNvSpPr/>
          <p:nvPr/>
        </p:nvSpPr>
        <p:spPr>
          <a:xfrm>
            <a:off x="416052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22"/>
          <p:cNvSpPr/>
          <p:nvPr/>
        </p:nvSpPr>
        <p:spPr>
          <a:xfrm>
            <a:off x="472752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3"/>
          <p:cNvSpPr/>
          <p:nvPr/>
        </p:nvSpPr>
        <p:spPr>
          <a:xfrm>
            <a:off x="548640" y="492876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θ = 120°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4"/>
          <p:cNvSpPr/>
          <p:nvPr/>
        </p:nvSpPr>
        <p:spPr>
          <a:xfrm>
            <a:off x="1417320" y="5038200"/>
            <a:ext cx="340128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5"/>
          <p:cNvSpPr/>
          <p:nvPr/>
        </p:nvSpPr>
        <p:spPr>
          <a:xfrm>
            <a:off x="1325880" y="494676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6"/>
          <p:cNvSpPr/>
          <p:nvPr/>
        </p:nvSpPr>
        <p:spPr>
          <a:xfrm>
            <a:off x="1892880" y="494676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7"/>
          <p:cNvSpPr/>
          <p:nvPr/>
        </p:nvSpPr>
        <p:spPr>
          <a:xfrm>
            <a:off x="245988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8"/>
          <p:cNvSpPr/>
          <p:nvPr/>
        </p:nvSpPr>
        <p:spPr>
          <a:xfrm>
            <a:off x="302652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9"/>
          <p:cNvSpPr/>
          <p:nvPr/>
        </p:nvSpPr>
        <p:spPr>
          <a:xfrm>
            <a:off x="359352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0"/>
          <p:cNvSpPr/>
          <p:nvPr/>
        </p:nvSpPr>
        <p:spPr>
          <a:xfrm>
            <a:off x="416052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1"/>
          <p:cNvSpPr/>
          <p:nvPr/>
        </p:nvSpPr>
        <p:spPr>
          <a:xfrm>
            <a:off x="472752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2"/>
          <p:cNvSpPr/>
          <p:nvPr/>
        </p:nvSpPr>
        <p:spPr>
          <a:xfrm>
            <a:off x="1143000" y="521208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narrow 20.44°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3"/>
          <p:cNvSpPr/>
          <p:nvPr/>
        </p:nvSpPr>
        <p:spPr>
          <a:xfrm>
            <a:off x="3813120" y="521208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wide 69.56°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4"/>
          <p:cNvSpPr/>
          <p:nvPr/>
        </p:nvSpPr>
        <p:spPr>
          <a:xfrm>
            <a:off x="6248160" y="4069080"/>
            <a:ext cx="53946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Optimum migrates to the wide end as corners sharpen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5"/>
          <p:cNvSpPr/>
          <p:nvPr/>
        </p:nvSpPr>
        <p:spPr>
          <a:xfrm>
            <a:off x="6248160" y="438012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θ = 60°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6"/>
          <p:cNvSpPr/>
          <p:nvPr/>
        </p:nvSpPr>
        <p:spPr>
          <a:xfrm>
            <a:off x="7116480" y="4489560"/>
            <a:ext cx="340164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7"/>
          <p:cNvSpPr/>
          <p:nvPr/>
        </p:nvSpPr>
        <p:spPr>
          <a:xfrm>
            <a:off x="702540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8"/>
          <p:cNvSpPr/>
          <p:nvPr/>
        </p:nvSpPr>
        <p:spPr>
          <a:xfrm>
            <a:off x="759240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9"/>
          <p:cNvSpPr/>
          <p:nvPr/>
        </p:nvSpPr>
        <p:spPr>
          <a:xfrm>
            <a:off x="8159040" y="439812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40"/>
          <p:cNvSpPr/>
          <p:nvPr/>
        </p:nvSpPr>
        <p:spPr>
          <a:xfrm>
            <a:off x="872604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41"/>
          <p:cNvSpPr/>
          <p:nvPr/>
        </p:nvSpPr>
        <p:spPr>
          <a:xfrm>
            <a:off x="929304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42"/>
          <p:cNvSpPr/>
          <p:nvPr/>
        </p:nvSpPr>
        <p:spPr>
          <a:xfrm>
            <a:off x="986004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43"/>
          <p:cNvSpPr/>
          <p:nvPr/>
        </p:nvSpPr>
        <p:spPr>
          <a:xfrm>
            <a:off x="10427040" y="439812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44"/>
          <p:cNvSpPr/>
          <p:nvPr/>
        </p:nvSpPr>
        <p:spPr>
          <a:xfrm>
            <a:off x="6248160" y="465444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θ = 90°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45"/>
          <p:cNvSpPr/>
          <p:nvPr/>
        </p:nvSpPr>
        <p:spPr>
          <a:xfrm>
            <a:off x="7116480" y="4763880"/>
            <a:ext cx="340164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46"/>
          <p:cNvSpPr/>
          <p:nvPr/>
        </p:nvSpPr>
        <p:spPr>
          <a:xfrm>
            <a:off x="702540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7"/>
          <p:cNvSpPr/>
          <p:nvPr/>
        </p:nvSpPr>
        <p:spPr>
          <a:xfrm>
            <a:off x="759240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48"/>
          <p:cNvSpPr/>
          <p:nvPr/>
        </p:nvSpPr>
        <p:spPr>
          <a:xfrm>
            <a:off x="815904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49"/>
          <p:cNvSpPr/>
          <p:nvPr/>
        </p:nvSpPr>
        <p:spPr>
          <a:xfrm>
            <a:off x="8726040" y="467244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50"/>
          <p:cNvSpPr/>
          <p:nvPr/>
        </p:nvSpPr>
        <p:spPr>
          <a:xfrm>
            <a:off x="929304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51"/>
          <p:cNvSpPr/>
          <p:nvPr/>
        </p:nvSpPr>
        <p:spPr>
          <a:xfrm>
            <a:off x="9860040" y="467244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52"/>
          <p:cNvSpPr/>
          <p:nvPr/>
        </p:nvSpPr>
        <p:spPr>
          <a:xfrm>
            <a:off x="10427040" y="467244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53"/>
          <p:cNvSpPr/>
          <p:nvPr/>
        </p:nvSpPr>
        <p:spPr>
          <a:xfrm>
            <a:off x="6248160" y="4928760"/>
            <a:ext cx="7311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θ = 120°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4"/>
          <p:cNvSpPr/>
          <p:nvPr/>
        </p:nvSpPr>
        <p:spPr>
          <a:xfrm>
            <a:off x="7116480" y="5038200"/>
            <a:ext cx="3401640" cy="360"/>
          </a:xfrm>
          <a:prstGeom prst="line">
            <a:avLst/>
          </a:prstGeom>
          <a:ln w="12700">
            <a:solidFill>
              <a:srgbClr val="E2E8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55"/>
          <p:cNvSpPr/>
          <p:nvPr/>
        </p:nvSpPr>
        <p:spPr>
          <a:xfrm>
            <a:off x="702540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6"/>
          <p:cNvSpPr/>
          <p:nvPr/>
        </p:nvSpPr>
        <p:spPr>
          <a:xfrm>
            <a:off x="759240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7"/>
          <p:cNvSpPr/>
          <p:nvPr/>
        </p:nvSpPr>
        <p:spPr>
          <a:xfrm>
            <a:off x="815904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58"/>
          <p:cNvSpPr/>
          <p:nvPr/>
        </p:nvSpPr>
        <p:spPr>
          <a:xfrm>
            <a:off x="8726040" y="4946760"/>
            <a:ext cx="182520" cy="182520"/>
          </a:xfrm>
          <a:prstGeom prst="ellipse">
            <a:avLst/>
          </a:prstGeom>
          <a:solidFill>
            <a:schemeClr val="bg1"/>
          </a:solidFill>
          <a:ln w="1270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59"/>
          <p:cNvSpPr/>
          <p:nvPr/>
        </p:nvSpPr>
        <p:spPr>
          <a:xfrm>
            <a:off x="9293040" y="494676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60"/>
          <p:cNvSpPr/>
          <p:nvPr/>
        </p:nvSpPr>
        <p:spPr>
          <a:xfrm>
            <a:off x="9860040" y="494676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61"/>
          <p:cNvSpPr/>
          <p:nvPr/>
        </p:nvSpPr>
        <p:spPr>
          <a:xfrm>
            <a:off x="10427040" y="4946760"/>
            <a:ext cx="182520" cy="1825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2"/>
          <p:cNvSpPr/>
          <p:nvPr/>
        </p:nvSpPr>
        <p:spPr>
          <a:xfrm>
            <a:off x="6842520" y="521208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narrow 20.44°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3"/>
          <p:cNvSpPr/>
          <p:nvPr/>
        </p:nvSpPr>
        <p:spPr>
          <a:xfrm>
            <a:off x="9512640" y="5212080"/>
            <a:ext cx="12798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wide 69.56°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4"/>
          <p:cNvSpPr/>
          <p:nvPr/>
        </p:nvSpPr>
        <p:spPr>
          <a:xfrm>
            <a:off x="548640" y="5577840"/>
            <a:ext cx="11094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Either way, no single static arm angle is best across the difficulty range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— the case for morphing.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400"/>
              </a:spcBef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Which end wins sharp corners depends on the model: in the corrected one the narrowest frame drops to last,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−32.7 % at 90° and −25.8 % at 120°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and the spread no longer grows monotonically with sharpness.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sldNum" idx="6"/>
          </p:nvPr>
        </p:nvSpPr>
        <p:spPr>
          <a:xfrm>
            <a:off x="1118592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34EE97-0F9F-47DB-9362-66772503CCFC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 hasCustomPrompt="1"/>
          </p:nvPr>
        </p:nvSpPr>
        <p:spPr>
          <a:xfrm>
            <a:off x="548640" y="320040"/>
            <a:ext cx="11094120" cy="63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the ranking flips: the yaw gyroscopic coupling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1"/>
          <p:cNvSpPr/>
          <p:nvPr/>
        </p:nvSpPr>
        <p:spPr>
          <a:xfrm>
            <a:off x="548640" y="107892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Only the yaw coupling depends on geometry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Equation box"/>
          <p:cNvSpPr/>
          <p:nvPr/>
        </p:nvSpPr>
        <p:spPr>
          <a:xfrm>
            <a:off x="548640" y="1463040"/>
            <a:ext cx="5486040" cy="5482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3"/>
          <p:cNvSpPr/>
          <p:nvPr/>
        </p:nvSpPr>
        <p:spPr>
          <a:xfrm>
            <a:off x="548640" y="146304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dΩ</a:t>
            </a:r>
            <a:r>
              <a:rPr lang="en-US" sz="20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z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/dt  =  (I</a:t>
            </a:r>
            <a:r>
              <a:rPr lang="en-US" sz="20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xx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− I</a:t>
            </a:r>
            <a:r>
              <a:rPr lang="en-US" sz="20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yy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 / I</a:t>
            </a:r>
            <a:r>
              <a:rPr lang="en-US" sz="20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zz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·  Ω</a:t>
            </a:r>
            <a:r>
              <a:rPr lang="en-US" sz="20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x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Ω</a:t>
            </a:r>
            <a:r>
              <a:rPr lang="en-US" sz="20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"/>
          <p:cNvSpPr/>
          <p:nvPr/>
        </p:nvSpPr>
        <p:spPr>
          <a:xfrm>
            <a:off x="1097280" y="3429000"/>
            <a:ext cx="4389120" cy="3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5"/>
          <p:cNvSpPr/>
          <p:nvPr/>
        </p:nvSpPr>
        <p:spPr>
          <a:xfrm>
            <a:off x="1295640" y="268020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6"/>
          <p:cNvSpPr/>
          <p:nvPr/>
        </p:nvSpPr>
        <p:spPr>
          <a:xfrm>
            <a:off x="1295640" y="245664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695880" y="245664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695880" y="268020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9"/>
          <p:cNvSpPr/>
          <p:nvPr/>
        </p:nvSpPr>
        <p:spPr>
          <a:xfrm>
            <a:off x="1097280" y="2669760"/>
            <a:ext cx="299880" cy="11196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0"/>
          <p:cNvSpPr/>
          <p:nvPr/>
        </p:nvSpPr>
        <p:spPr>
          <a:xfrm flipV="1">
            <a:off x="1097280" y="2558160"/>
            <a:ext cx="299880" cy="11160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1"/>
          <p:cNvSpPr/>
          <p:nvPr/>
        </p:nvSpPr>
        <p:spPr>
          <a:xfrm>
            <a:off x="797040" y="2558160"/>
            <a:ext cx="300240" cy="11160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2"/>
          <p:cNvSpPr/>
          <p:nvPr/>
        </p:nvSpPr>
        <p:spPr>
          <a:xfrm flipV="1">
            <a:off x="797040" y="2669760"/>
            <a:ext cx="300240" cy="11196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3"/>
          <p:cNvSpPr/>
          <p:nvPr/>
        </p:nvSpPr>
        <p:spPr>
          <a:xfrm>
            <a:off x="1017360" y="2590200"/>
            <a:ext cx="159840" cy="15984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4"/>
          <p:cNvSpPr/>
          <p:nvPr/>
        </p:nvSpPr>
        <p:spPr>
          <a:xfrm>
            <a:off x="1097280" y="2669760"/>
            <a:ext cx="17568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5"/>
          <p:cNvSpPr/>
          <p:nvPr/>
        </p:nvSpPr>
        <p:spPr>
          <a:xfrm>
            <a:off x="1097280" y="3355560"/>
            <a:ext cx="360" cy="14652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6"/>
          <p:cNvSpPr/>
          <p:nvPr/>
        </p:nvSpPr>
        <p:spPr>
          <a:xfrm>
            <a:off x="274320" y="353880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−0.76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narrowest (20.44°)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7"/>
          <p:cNvSpPr/>
          <p:nvPr/>
        </p:nvSpPr>
        <p:spPr>
          <a:xfrm>
            <a:off x="3416400" y="279468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8"/>
          <p:cNvSpPr/>
          <p:nvPr/>
        </p:nvSpPr>
        <p:spPr>
          <a:xfrm>
            <a:off x="3416400" y="234216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9"/>
          <p:cNvSpPr/>
          <p:nvPr/>
        </p:nvSpPr>
        <p:spPr>
          <a:xfrm>
            <a:off x="2963880" y="234216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0"/>
          <p:cNvSpPr/>
          <p:nvPr/>
        </p:nvSpPr>
        <p:spPr>
          <a:xfrm>
            <a:off x="2963880" y="279468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1"/>
          <p:cNvSpPr/>
          <p:nvPr/>
        </p:nvSpPr>
        <p:spPr>
          <a:xfrm>
            <a:off x="3291840" y="2669760"/>
            <a:ext cx="226080" cy="2264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22"/>
          <p:cNvSpPr/>
          <p:nvPr/>
        </p:nvSpPr>
        <p:spPr>
          <a:xfrm flipV="1">
            <a:off x="3291840" y="2443680"/>
            <a:ext cx="226080" cy="2260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3"/>
          <p:cNvSpPr/>
          <p:nvPr/>
        </p:nvSpPr>
        <p:spPr>
          <a:xfrm>
            <a:off x="3065400" y="2443680"/>
            <a:ext cx="226440" cy="2260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4"/>
          <p:cNvSpPr/>
          <p:nvPr/>
        </p:nvSpPr>
        <p:spPr>
          <a:xfrm flipV="1">
            <a:off x="3065400" y="2669760"/>
            <a:ext cx="226440" cy="22644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5"/>
          <p:cNvSpPr/>
          <p:nvPr/>
        </p:nvSpPr>
        <p:spPr>
          <a:xfrm>
            <a:off x="3211920" y="2590200"/>
            <a:ext cx="159840" cy="15984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6"/>
          <p:cNvSpPr/>
          <p:nvPr/>
        </p:nvSpPr>
        <p:spPr>
          <a:xfrm>
            <a:off x="3291840" y="2669760"/>
            <a:ext cx="17568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7"/>
          <p:cNvSpPr/>
          <p:nvPr/>
        </p:nvSpPr>
        <p:spPr>
          <a:xfrm>
            <a:off x="3291840" y="3355560"/>
            <a:ext cx="360" cy="14652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8"/>
          <p:cNvSpPr/>
          <p:nvPr/>
        </p:nvSpPr>
        <p:spPr>
          <a:xfrm>
            <a:off x="2468880" y="353880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0.00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X quad (45.00°)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9"/>
          <p:cNvSpPr/>
          <p:nvPr/>
        </p:nvSpPr>
        <p:spPr>
          <a:xfrm>
            <a:off x="5496480" y="286848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0"/>
          <p:cNvSpPr/>
          <p:nvPr/>
        </p:nvSpPr>
        <p:spPr>
          <a:xfrm>
            <a:off x="5496480" y="226872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1"/>
          <p:cNvSpPr/>
          <p:nvPr/>
        </p:nvSpPr>
        <p:spPr>
          <a:xfrm>
            <a:off x="5272920" y="226872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2"/>
          <p:cNvSpPr/>
          <p:nvPr/>
        </p:nvSpPr>
        <p:spPr>
          <a:xfrm>
            <a:off x="5272920" y="2868480"/>
            <a:ext cx="203040" cy="203040"/>
          </a:xfrm>
          <a:prstGeom prst="ellipse">
            <a:avLst/>
          </a:prstGeom>
          <a:solidFill>
            <a:schemeClr val="accent3">
              <a:alpha val="38000"/>
            </a:schemeClr>
          </a:solidFill>
          <a:ln w="9525">
            <a:solidFill>
              <a:srgbClr val="2F85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3"/>
          <p:cNvSpPr/>
          <p:nvPr/>
        </p:nvSpPr>
        <p:spPr>
          <a:xfrm>
            <a:off x="5486400" y="2669760"/>
            <a:ext cx="111600" cy="2998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34"/>
          <p:cNvSpPr/>
          <p:nvPr/>
        </p:nvSpPr>
        <p:spPr>
          <a:xfrm flipV="1">
            <a:off x="5486400" y="2369880"/>
            <a:ext cx="111600" cy="2998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5"/>
          <p:cNvSpPr/>
          <p:nvPr/>
        </p:nvSpPr>
        <p:spPr>
          <a:xfrm>
            <a:off x="5374440" y="2369880"/>
            <a:ext cx="111960" cy="2998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6"/>
          <p:cNvSpPr/>
          <p:nvPr/>
        </p:nvSpPr>
        <p:spPr>
          <a:xfrm flipV="1">
            <a:off x="5374440" y="2669760"/>
            <a:ext cx="111960" cy="299880"/>
          </a:xfrm>
          <a:prstGeom prst="line">
            <a:avLst/>
          </a:prstGeom>
          <a:ln w="1587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7"/>
          <p:cNvSpPr/>
          <p:nvPr/>
        </p:nvSpPr>
        <p:spPr>
          <a:xfrm>
            <a:off x="5406480" y="2590200"/>
            <a:ext cx="159840" cy="159840"/>
          </a:xfrm>
          <a:prstGeom prst="ellipse">
            <a:avLst/>
          </a:prstGeom>
          <a:solidFill>
            <a:schemeClr val="accent2">
              <a:alpha val="55000"/>
            </a:schemeClr>
          </a:solidFill>
          <a:ln w="9525">
            <a:solidFill>
              <a:srgbClr val="2563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8"/>
          <p:cNvSpPr/>
          <p:nvPr/>
        </p:nvSpPr>
        <p:spPr>
          <a:xfrm>
            <a:off x="5486400" y="2669760"/>
            <a:ext cx="175680" cy="360"/>
          </a:xfrm>
          <a:prstGeom prst="line">
            <a:avLst/>
          </a:prstGeom>
          <a:ln w="15875">
            <a:solidFill>
              <a:srgbClr val="1E293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9"/>
          <p:cNvSpPr/>
          <p:nvPr/>
        </p:nvSpPr>
        <p:spPr>
          <a:xfrm>
            <a:off x="5486400" y="3355560"/>
            <a:ext cx="360" cy="14652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0"/>
          <p:cNvSpPr/>
          <p:nvPr/>
        </p:nvSpPr>
        <p:spPr>
          <a:xfrm>
            <a:off x="4663440" y="3538800"/>
            <a:ext cx="1645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+0.75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widest (69.56°)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41"/>
          <p:cNvSpPr/>
          <p:nvPr/>
        </p:nvSpPr>
        <p:spPr>
          <a:xfrm>
            <a:off x="548640" y="4160520"/>
            <a:ext cx="548604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Roll and pitch couplings are nearly the same on every frame (coefficients 0.92–0.99), since I</a:t>
            </a:r>
            <a:r>
              <a:rPr lang="en-US" sz="14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zz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≈ I</a:t>
            </a:r>
            <a:r>
              <a:rPr lang="en-US" sz="14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xx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+ I</a:t>
            </a:r>
            <a:r>
              <a:rPr lang="en-US" sz="1400" b="0" u="none" strike="noStrike" baseline="-40000">
                <a:solidFill>
                  <a:schemeClr val="dk1"/>
                </a:solidFill>
                <a:effectLst/>
                <a:uFillTx/>
                <a:latin typeface="Calibri"/>
              </a:rPr>
              <a:t>yy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yaw coefficient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changes sign across the family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on the axis the rotors control most weakly (yaw authority 6.43 vs 121–313 in roll)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Open: how the yaw torque turns into missed gates. Adding the coupling raises the narrow frame's sideslip at the gates (1.0° → 5.4° at 90°): a lead, not a 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2"/>
          <p:cNvSpPr/>
          <p:nvPr/>
        </p:nvSpPr>
        <p:spPr>
          <a:xfrm>
            <a:off x="6446520" y="1078920"/>
            <a:ext cx="5196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Test: keep the term on one body axis at a time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3" name="Table 0"/>
          <p:cNvGraphicFramePr/>
          <p:nvPr/>
        </p:nvGraphicFramePr>
        <p:xfrm>
          <a:off x="6446520" y="1463040"/>
          <a:ext cx="5196240" cy="1791720"/>
        </p:xfrm>
        <a:graphic>
          <a:graphicData uri="http://schemas.openxmlformats.org/drawingml/2006/table">
            <a:tbl>
              <a:tblPr/>
              <a:tblGrid>
                <a:gridCol w="566640"/>
                <a:gridCol w="731520"/>
                <a:gridCol w="786240"/>
                <a:gridCol w="786240"/>
                <a:gridCol w="786240"/>
                <a:gridCol w="786240"/>
                <a:gridCol w="752400"/>
              </a:tblGrid>
              <a:tr h="25596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t (°)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no axis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roll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pitch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yaw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all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dk1"/>
                    </a:solidFill>
                  </a:tcPr>
                </a:tc>
              </a:tr>
              <a:tr h="25596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90°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20.44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8.406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8.445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7.625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6.297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5.555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5596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90°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45.00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8.367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8.445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8.172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8.367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8.250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5596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90°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69.56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8.133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8.133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8.016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8.289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8.211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5596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120°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20.44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6.805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6.805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6.688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5.594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accent1"/>
                          </a:solidFill>
                          <a:effectLst/>
                          <a:uFillTx/>
                          <a:latin typeface="Calibri"/>
                        </a:rPr>
                        <a:t>5.281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5596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120°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45.00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6.922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6.922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6.727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6.922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6.688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255960"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2"/>
                          </a:solidFill>
                          <a:effectLst/>
                          <a:uFillTx/>
                          <a:latin typeface="Calibri"/>
                        </a:rPr>
                        <a:t>120°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69.56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6.609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6.844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6.531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7.039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 lIns="45720" tIns="0" rIns="45720" bIns="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7.117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5720" marR="45720" marT="0" marB="0">
                    <a:lnL w="9360">
                      <a:solidFill>
                        <a:srgbClr val="CBD5E1"/>
                      </a:solidFill>
                      <a:prstDash val="solid"/>
                    </a:lnL>
                    <a:lnR w="9360">
                      <a:solidFill>
                        <a:srgbClr val="CBD5E1"/>
                      </a:solidFill>
                      <a:prstDash val="solid"/>
                    </a:lnR>
                    <a:lnT w="9360">
                      <a:solidFill>
                        <a:srgbClr val="CBD5E1"/>
                      </a:solidFill>
                      <a:prstDash val="solid"/>
                    </a:lnT>
                    <a:lnB w="9360">
                      <a:solidFill>
                        <a:srgbClr val="CBD5E1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64" name="Text 43"/>
          <p:cNvSpPr/>
          <p:nvPr/>
        </p:nvSpPr>
        <p:spPr>
          <a:xfrm>
            <a:off x="6446520" y="3310200"/>
            <a:ext cx="5196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Maximum completing speed (m/s), report Table 4; “all” is the corrected model, “no axis” drops the term consistently.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4"/>
          <p:cNvSpPr/>
          <p:nvPr/>
        </p:nvSpPr>
        <p:spPr>
          <a:xfrm>
            <a:off x="6446520" y="3749040"/>
            <a:ext cx="519624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Yaw alone reproduces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74 % / 79 %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of the narrow frame's loss (90° / 120°) and 85 % of the wide frame's gain at 120°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1E293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With no coupling the narrowest frame ties the X quad at 90° and trails it at 120°: roll authority alone does not win the slalom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Implication box"/>
          <p:cNvSpPr/>
          <p:nvPr/>
        </p:nvSpPr>
        <p:spPr>
          <a:xfrm>
            <a:off x="6446520" y="5074920"/>
            <a:ext cx="5196240" cy="1261440"/>
          </a:xfrm>
          <a:prstGeom prst="roundRect">
            <a:avLst>
              <a:gd name="adj" fmla="val 7246"/>
            </a:avLst>
          </a:prstGeom>
          <a:solidFill>
            <a:schemeClr val="accent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46"/>
          <p:cNvSpPr/>
          <p:nvPr/>
        </p:nvSpPr>
        <p:spPr>
          <a:xfrm>
            <a:off x="6629400" y="5139000"/>
            <a:ext cx="4830480" cy="11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Implication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static arm angle is best everywhere, which </a:t>
            </a: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supports arms that sweep in flight</a:t>
            </a:r>
            <a:r>
              <a:rPr lang="en-US" sz="1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 First, derive gains from the full inertia tensor: asymmetric sweeps break the mirror planes, and the diagonal form then misses its 24 rad/s target (22.4–26.0).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sldNum" idx="7"/>
          </p:nvPr>
        </p:nvSpPr>
        <p:spPr>
          <a:xfrm>
            <a:off x="11185920" y="6473880"/>
            <a:ext cx="456840" cy="22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EEE441-276A-4AC6-8058-A637C1332748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Gate Racing">
  <a:themeElements>
    <a:clrScheme name="Gate Racing">
      <a:dk1>
        <a:srgbClr val="1E293B"/>
      </a:dk1>
      <a:lt1>
        <a:srgbClr val="FFFFFF"/>
      </a:lt1>
      <a:dk2>
        <a:srgbClr val="475569"/>
      </a:dk2>
      <a:lt2>
        <a:srgbClr val="F1F5F9"/>
      </a:lt2>
      <a:accent1>
        <a:srgbClr val="C2410C"/>
      </a:accent1>
      <a:accent2>
        <a:srgbClr val="2563EB"/>
      </a:accent2>
      <a:accent3>
        <a:srgbClr val="2F855A"/>
      </a:accent3>
      <a:accent4>
        <a:srgbClr val="94A3B8"/>
      </a:accent4>
      <a:accent5>
        <a:srgbClr val="B91C1C"/>
      </a:accent5>
      <a:accent6>
        <a:srgbClr val="FDEBDD"/>
      </a:accent6>
      <a:hlink>
        <a:srgbClr val="2563EB"/>
      </a:hlink>
      <a:folHlink>
        <a:srgbClr val="6B21A8"/>
      </a:folHlink>
    </a:clrScheme>
    <a:fontScheme name="Gate Racing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LibreOffice/26.2.5.2$Linux_X86_64 LibreOffice_project/6d2b0d33fb0f5da53a12f98bed3e9973e56ff1f0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2026-10-07T16:12:17Z</dcterms:created>
  <dc:creator>ARIEL / SPEAR</dc:creator>
  <dc:description/>
  <dc:language>en-US</dc:language>
  <cp:lastModifiedBy/>
  <dcterms:modified xsi:type="dcterms:W3CDTF">2026-10-07T18:19:20Z</dcterms:modified>
  <cp:revision>2</cp:revision>
  <dc:subject>PptxGenJS Presentation</dc:subject>
  <dc:title>Arm azimuth and corner sharpness in quadrotor gate racing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On-screen Show (16:9)</vt:lpwstr>
  </property>
  <property fmtid="{D5CDD505-2E9C-101B-9397-08002B2CF9AE}" pid="4" name="Slides">
    <vt:i4>3</vt:i4>
  </property>
</Properties>
</file>